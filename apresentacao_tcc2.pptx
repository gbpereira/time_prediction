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70" r:id="rId6"/>
    <p:sldId id="269" r:id="rId7"/>
    <p:sldId id="280" r:id="rId8"/>
    <p:sldId id="271" r:id="rId9"/>
    <p:sldId id="272" r:id="rId10"/>
    <p:sldId id="278" r:id="rId11"/>
    <p:sldId id="273" r:id="rId12"/>
    <p:sldId id="274" r:id="rId13"/>
    <p:sldId id="261" r:id="rId14"/>
    <p:sldId id="279" r:id="rId15"/>
    <p:sldId id="281" r:id="rId16"/>
    <p:sldId id="275" r:id="rId17"/>
    <p:sldId id="276" r:id="rId18"/>
    <p:sldId id="277" r:id="rId19"/>
    <p:sldId id="282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7EBC81-3CAF-4B52-BE4D-A90A5FE6F3E9}" v="9" dt="2023-12-07T21:41:33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>
        <p:scale>
          <a:sx n="90" d="100"/>
          <a:sy n="90" d="100"/>
        </p:scale>
        <p:origin x="2872" y="1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07F5E-585F-EA40-3963-9DE0329AD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203B1C-BACA-127B-6DED-4CAB42566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3B1268-0988-693E-D00B-58C9CE34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27C8C2-B5F3-9F57-9C1A-07BFA1F7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5015E1-DD56-7B94-3313-4FDF2ADB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0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88497-D6C3-4976-6F53-5680F8FF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FD3EC7-BEC4-0EA0-A328-1A0C0F1F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12688C-516E-F0CD-31A1-1781119BA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0CBA41-A943-D98A-9D65-BDA7CB7B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55CCF4-9EF9-B590-D6EF-A2C915C5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86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24378-3217-0D22-08FF-D755AFA64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DDD369-4A45-FD12-228C-C26306F76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25F47B-040D-41CA-DA0F-D5C56601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E1BAB7-B5BB-A831-0940-8A2D30D5D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6EC31B-2FFD-760A-D681-B35DD5D0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9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3E8F9-F855-0F54-56F4-A7D29539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9D84DF-E370-9F2D-1BAF-4A3F82803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6596B8-92A1-2D4D-11AD-E4CD87354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864BA9-3434-A092-3447-4324A126B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87A1D7-2FEA-0B6E-E628-452AFA25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6F0D5F-453D-D58E-3A24-87FC62A55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185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53E0B-08AF-8326-5293-E34AD4DE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9DECB5-B3D4-48FD-6D4D-70C11BCC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E632AB-15BC-C5DC-98F1-3A53512A5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4BCA0E-5BBC-20CA-74CB-0F55EAF4B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2BD5CF9-FDFE-892B-3B4E-420CAF29D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90645C-45ED-EE5C-AA78-3A5DAAFF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905780-DF22-15BC-FF14-14A770B50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093577A-D2CC-07BE-D6ED-597A4135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73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95419-ACA2-58FF-B78E-F3128E5E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FADE88-1E24-D94C-60CC-D0211B883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30897C-7041-3BFA-F24F-AE04DE91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6A808D-823D-4325-D68F-D4DCEE03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60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6C3ED3-4EF3-B789-373E-7826EF6F2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A99456-D9F3-CB92-481B-DED44B78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120B29-46BF-C938-FA58-5ACF82B8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9B134-460B-2E85-D616-FD4D5EB4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C12B63-F76D-161B-59B4-85327509E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E718E9-FA8A-B303-431C-17C143D24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76580F-F95F-6B68-54A8-F99F4F12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868353-A6BE-F6CA-9BFB-827E1709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0F3E5E-46F8-6B1A-BC3F-B3F218F7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49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EC07E-B13B-83E2-619F-93B0D57E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1124F6B-F0ED-4966-EB09-06C3636E9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8DE16A-BC44-4FFB-186C-6FD78CD9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E43670-E1DE-30DC-692B-216F4DF7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1169C8-92C8-4BCF-EDF4-87B0BD7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E0E8A8-D02F-9481-4B00-018A8425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2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4A619-175C-685B-9874-4CE8D0C0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195D46-E663-A21A-E7FD-DC6C8DC86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F90119-9032-30FF-70B4-F883ADA2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D42E34-B884-BAF1-80CB-36FCD41B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0C8CE-45CB-2CEA-7337-97A583735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91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41B5A7-94B0-1784-C5E4-5A8F79759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4C32E3-6CCA-3E89-818D-FC1F9289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6F7794-1DB1-0F78-DEFE-36F5315CF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04DA6B-42F9-D520-0336-12806BF0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C0FF11-E378-0791-BE8F-993A62BE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28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280618-C42A-2028-8429-65071BC52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B08449-EFFF-FA9A-8A86-3B270280C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342F20-DC5F-432B-2E3F-249783314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43513-A136-4E38-9706-CA0B2A03F1A1}" type="datetimeFigureOut">
              <a:rPr lang="pt-BR" smtClean="0"/>
              <a:t>06/12/2023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0354F3-4063-46AE-0FF6-1AFBE525D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6871C1-A8A0-E577-3DC5-919B0234A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2C31B-45B7-454C-8C23-9246E7FA8F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3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C82F7-851B-9053-B308-F5E570236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14196"/>
          </a:xfrm>
        </p:spPr>
        <p:txBody>
          <a:bodyPr>
            <a:normAutofit/>
          </a:bodyPr>
          <a:lstStyle/>
          <a:p>
            <a:r>
              <a:rPr lang="pt-BR" dirty="0"/>
              <a:t>Previsão e Controle de Tempos das Entregas em Plataformas de Serviços com Inteligência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632E10-47CE-E465-A6CA-A1A8FADEF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17804"/>
            <a:ext cx="9144000" cy="593823"/>
          </a:xfrm>
        </p:spPr>
        <p:txBody>
          <a:bodyPr>
            <a:normAutofit/>
          </a:bodyPr>
          <a:lstStyle/>
          <a:p>
            <a:r>
              <a:rPr lang="pt-BR" dirty="0"/>
              <a:t>Guilherme Barrado Pereira, Rogério de Oliveira</a:t>
            </a:r>
          </a:p>
        </p:txBody>
      </p:sp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73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BCCC627-FC53-784C-A8CC-4244B5F25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310" y="634041"/>
            <a:ext cx="3115490" cy="5589917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13" name="Espaço Reservado para Conteúdo 12" descr="Tabela&#10;&#10;Descrição gerada automaticamente">
            <a:extLst>
              <a:ext uri="{FF2B5EF4-FFF2-40B4-BE49-F238E27FC236}">
                <a16:creationId xmlns:a16="http://schemas.microsoft.com/office/drawing/2014/main" id="{5DF37FEB-2633-DBBC-4649-1A30EBD87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62111"/>
            <a:ext cx="6953250" cy="3533775"/>
          </a:xfrm>
        </p:spPr>
      </p:pic>
    </p:spTree>
    <p:extLst>
      <p:ext uri="{BB962C8B-B14F-4D97-AF65-F5344CB8AC3E}">
        <p14:creationId xmlns:p14="http://schemas.microsoft.com/office/powerpoint/2010/main" val="235304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ACB7E56-EB13-D222-8B55-AE300EDC6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1388964"/>
            <a:ext cx="9096375" cy="4895850"/>
          </a:xfrm>
          <a:prstGeom prst="rect">
            <a:avLst/>
          </a:prstGeom>
        </p:spPr>
      </p:pic>
      <p:pic>
        <p:nvPicPr>
          <p:cNvPr id="4" name="Imagem 3" descr="Logotipo">
            <a:extLst>
              <a:ext uri="{FF2B5EF4-FFF2-40B4-BE49-F238E27FC236}">
                <a16:creationId xmlns:a16="http://schemas.microsoft.com/office/drawing/2014/main" id="{F1F34872-EC38-5743-7FEC-259904D37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3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Referencial teórico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8010A4-D2A1-410A-5AF7-6DE46C9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r>
              <a:rPr lang="pt-BR" dirty="0"/>
              <a:t>Decisões orientadas a dados</a:t>
            </a:r>
          </a:p>
          <a:p>
            <a:pPr lvl="1"/>
            <a:r>
              <a:rPr lang="pt-BR" dirty="0"/>
              <a:t>Aumento de competitividade</a:t>
            </a:r>
          </a:p>
          <a:p>
            <a:pPr lvl="1"/>
            <a:r>
              <a:rPr lang="pt-BR" dirty="0"/>
              <a:t>Carros autônomos, Reconhecimento de imagem, Sistemas de recomendação</a:t>
            </a:r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r>
              <a:rPr lang="pt-BR" dirty="0"/>
              <a:t>Aprendizado de máquina supervisionado</a:t>
            </a:r>
          </a:p>
          <a:p>
            <a:pPr lvl="1"/>
            <a:r>
              <a:rPr lang="pt-BR" dirty="0" err="1"/>
              <a:t>Decision</a:t>
            </a:r>
            <a:r>
              <a:rPr lang="pt-BR" dirty="0"/>
              <a:t> </a:t>
            </a:r>
            <a:r>
              <a:rPr lang="pt-BR" dirty="0" err="1"/>
              <a:t>Trees</a:t>
            </a:r>
            <a:r>
              <a:rPr lang="pt-BR" dirty="0"/>
              <a:t>, Random </a:t>
            </a:r>
            <a:r>
              <a:rPr lang="pt-BR" dirty="0" err="1"/>
              <a:t>Trees</a:t>
            </a:r>
            <a:r>
              <a:rPr lang="pt-BR" dirty="0"/>
              <a:t>, </a:t>
            </a:r>
            <a:r>
              <a:rPr lang="pt-BR" dirty="0" err="1"/>
              <a:t>Support</a:t>
            </a:r>
            <a:r>
              <a:rPr lang="pt-BR" dirty="0"/>
              <a:t> Vector </a:t>
            </a:r>
            <a:r>
              <a:rPr lang="pt-BR" dirty="0" err="1"/>
              <a:t>Machines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0100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Referencial teórico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8010A4-D2A1-410A-5AF7-6DE46C9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400110" cy="4351338"/>
          </a:xfrm>
        </p:spPr>
        <p:txBody>
          <a:bodyPr/>
          <a:lstStyle/>
          <a:p>
            <a:r>
              <a:rPr lang="pt-BR" dirty="0"/>
              <a:t>Trabalhos correlatos:</a:t>
            </a:r>
          </a:p>
          <a:p>
            <a:pPr lvl="1"/>
            <a:r>
              <a:rPr lang="pt-BR" dirty="0"/>
              <a:t>Previsão de tempo de viagem em transporte de passageiros (Taxi)</a:t>
            </a:r>
          </a:p>
          <a:p>
            <a:pPr lvl="2"/>
            <a:r>
              <a:rPr lang="pt-BR" dirty="0"/>
              <a:t>Random Forest, SVM, </a:t>
            </a:r>
            <a:r>
              <a:rPr lang="pt-BR" dirty="0" err="1"/>
              <a:t>Extremely</a:t>
            </a:r>
            <a:r>
              <a:rPr lang="pt-BR" dirty="0"/>
              <a:t> </a:t>
            </a:r>
            <a:r>
              <a:rPr lang="pt-BR" dirty="0" err="1"/>
              <a:t>Randomized</a:t>
            </a:r>
            <a:r>
              <a:rPr lang="pt-BR" dirty="0"/>
              <a:t> </a:t>
            </a:r>
            <a:r>
              <a:rPr lang="pt-BR" dirty="0" err="1"/>
              <a:t>Trees</a:t>
            </a:r>
            <a:endParaRPr lang="pt-BR" dirty="0"/>
          </a:p>
          <a:p>
            <a:pPr marL="914400" lvl="2" indent="0">
              <a:buNone/>
            </a:pPr>
            <a:endParaRPr lang="pt-BR" dirty="0"/>
          </a:p>
          <a:p>
            <a:pPr lvl="1"/>
            <a:r>
              <a:rPr lang="pt-BR" dirty="0"/>
              <a:t>Previsão de tempo de viagem em transporte multimodal de cargas</a:t>
            </a:r>
          </a:p>
          <a:p>
            <a:pPr lvl="2"/>
            <a:r>
              <a:rPr lang="pt-BR" dirty="0"/>
              <a:t>SVM, </a:t>
            </a:r>
            <a:r>
              <a:rPr lang="pt-BR" dirty="0" err="1"/>
              <a:t>AdaBoost</a:t>
            </a:r>
            <a:r>
              <a:rPr lang="pt-BR" dirty="0"/>
              <a:t>, </a:t>
            </a:r>
            <a:r>
              <a:rPr lang="pt-BR" dirty="0" err="1"/>
              <a:t>Extremely</a:t>
            </a:r>
            <a:r>
              <a:rPr lang="pt-BR" dirty="0"/>
              <a:t> </a:t>
            </a:r>
            <a:r>
              <a:rPr lang="pt-BR" dirty="0" err="1"/>
              <a:t>Randomized</a:t>
            </a:r>
            <a:r>
              <a:rPr lang="pt-BR" dirty="0"/>
              <a:t> </a:t>
            </a:r>
            <a:r>
              <a:rPr lang="pt-BR" dirty="0" err="1"/>
              <a:t>Trees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395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pic>
        <p:nvPicPr>
          <p:cNvPr id="16" name="Imagem 15" descr="Gráfico&#10;&#10;Descrição gerada automaticamente">
            <a:extLst>
              <a:ext uri="{FF2B5EF4-FFF2-40B4-BE49-F238E27FC236}">
                <a16:creationId xmlns:a16="http://schemas.microsoft.com/office/drawing/2014/main" id="{55DB9A2D-8F45-43B7-82F3-B74946FC7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353" y="1888331"/>
            <a:ext cx="7971294" cy="362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6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- Dados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D92234A-9B17-9531-3C6B-73E74EEE6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530950"/>
            <a:ext cx="11353800" cy="2180678"/>
          </a:xfrm>
          <a:prstGeom prst="rect">
            <a:avLst/>
          </a:prstGeom>
        </p:spPr>
      </p:pic>
      <p:sp>
        <p:nvSpPr>
          <p:cNvPr id="2" name="Espaço Reservado para Conteúdo 9">
            <a:extLst>
              <a:ext uri="{FF2B5EF4-FFF2-40B4-BE49-F238E27FC236}">
                <a16:creationId xmlns:a16="http://schemas.microsoft.com/office/drawing/2014/main" id="{25C2358E-E1C1-05D4-0279-6F4EA8C3D40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5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Conjunto total: 8.421</a:t>
            </a:r>
          </a:p>
          <a:p>
            <a:r>
              <a:rPr lang="pt-BR" dirty="0"/>
              <a:t>Outliers: 358</a:t>
            </a:r>
          </a:p>
          <a:p>
            <a:r>
              <a:rPr lang="pt-BR" dirty="0"/>
              <a:t>Período: set/22 a </a:t>
            </a:r>
            <a:r>
              <a:rPr lang="pt-BR" dirty="0" err="1"/>
              <a:t>nov</a:t>
            </a:r>
            <a:r>
              <a:rPr lang="pt-BR" dirty="0"/>
              <a:t>/2023</a:t>
            </a:r>
          </a:p>
        </p:txBody>
      </p:sp>
    </p:spTree>
    <p:extLst>
      <p:ext uri="{BB962C8B-B14F-4D97-AF65-F5344CB8AC3E}">
        <p14:creationId xmlns:p14="http://schemas.microsoft.com/office/powerpoint/2010/main" val="369102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– Análise exploratória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F0BB8647-163C-EB57-79C3-CA106DD81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809" y="1435507"/>
            <a:ext cx="8304381" cy="4916758"/>
          </a:xfrm>
        </p:spPr>
      </p:pic>
      <p:pic>
        <p:nvPicPr>
          <p:cNvPr id="4" name="Imagem 3" descr="Logotipo">
            <a:extLst>
              <a:ext uri="{FF2B5EF4-FFF2-40B4-BE49-F238E27FC236}">
                <a16:creationId xmlns:a16="http://schemas.microsoft.com/office/drawing/2014/main" id="{F3CCDF59-4D23-4310-791D-C24EF2BCC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5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– Preparação dos dados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0C52DCBE-3810-46DC-2E58-DF31CD152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57424" y="1690688"/>
            <a:ext cx="6796375" cy="4351338"/>
          </a:xfrm>
        </p:spPr>
      </p:pic>
      <p:sp>
        <p:nvSpPr>
          <p:cNvPr id="12" name="Espaço Reservado para Conteúdo 9">
            <a:extLst>
              <a:ext uri="{FF2B5EF4-FFF2-40B4-BE49-F238E27FC236}">
                <a16:creationId xmlns:a16="http://schemas.microsoft.com/office/drawing/2014/main" id="{E8381D32-6CC3-5DC0-37D3-1D749F01FA1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5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Novas variáveis</a:t>
            </a:r>
          </a:p>
          <a:p>
            <a:pPr lvl="1"/>
            <a:r>
              <a:rPr lang="pt-BR" dirty="0"/>
              <a:t>Distância (</a:t>
            </a:r>
            <a:r>
              <a:rPr lang="pt-BR" dirty="0" err="1"/>
              <a:t>Waze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Tempo de rota (</a:t>
            </a:r>
            <a:r>
              <a:rPr lang="pt-BR" dirty="0" err="1"/>
              <a:t>Waze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452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– Preparação dos dados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8BC5707-D89A-8DF8-E540-C35548FE9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736" y="1690688"/>
            <a:ext cx="2310064" cy="3429001"/>
          </a:xfrm>
          <a:prstGeom prst="rect">
            <a:avLst/>
          </a:prstGeo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6AD305-92A0-A4FB-EC0E-0DC6E2EC6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pt-BR" dirty="0"/>
              <a:t>Variáveis derivadas:</a:t>
            </a:r>
          </a:p>
          <a:p>
            <a:pPr lvl="1"/>
            <a:r>
              <a:rPr lang="pt-BR" dirty="0"/>
              <a:t>Hora em formato decimal</a:t>
            </a:r>
          </a:p>
          <a:p>
            <a:pPr lvl="1"/>
            <a:r>
              <a:rPr lang="pt-BR" dirty="0"/>
              <a:t>Dia do mês</a:t>
            </a:r>
          </a:p>
          <a:p>
            <a:pPr lvl="1"/>
            <a:r>
              <a:rPr lang="pt-BR" dirty="0"/>
              <a:t>Dia da semana</a:t>
            </a:r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r>
              <a:rPr lang="pt-BR" dirty="0" err="1"/>
              <a:t>Encoding</a:t>
            </a:r>
            <a:r>
              <a:rPr lang="pt-BR" dirty="0"/>
              <a:t> e Normalização (Escala)</a:t>
            </a:r>
          </a:p>
          <a:p>
            <a:pPr lvl="1"/>
            <a:r>
              <a:rPr lang="pt-BR" dirty="0"/>
              <a:t>Holiday</a:t>
            </a:r>
          </a:p>
          <a:p>
            <a:pPr lvl="1"/>
            <a:r>
              <a:rPr lang="pt-BR" dirty="0" err="1"/>
              <a:t>Reseller</a:t>
            </a:r>
            <a:endParaRPr lang="pt-BR" dirty="0"/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5210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– Treinamento e Seleção</a:t>
            </a:r>
          </a:p>
        </p:txBody>
      </p:sp>
      <p:sp>
        <p:nvSpPr>
          <p:cNvPr id="4" name="Espaço Reservado para Conteúdo 9">
            <a:extLst>
              <a:ext uri="{FF2B5EF4-FFF2-40B4-BE49-F238E27FC236}">
                <a16:creationId xmlns:a16="http://schemas.microsoft.com/office/drawing/2014/main" id="{FC511972-E717-52DA-2C6B-94423FA3C87E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7400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Treinamento com todos os dados</a:t>
            </a:r>
          </a:p>
          <a:p>
            <a:r>
              <a:rPr lang="pt-BR" dirty="0"/>
              <a:t>Seleção dos 3 melhores</a:t>
            </a:r>
          </a:p>
          <a:p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12AF576-DA2C-6915-22ED-D87F3B0C3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6"/>
            <a:ext cx="5257799" cy="395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4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- Previsão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8010A4-D2A1-410A-5AF7-6DE46C9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400110" cy="4351338"/>
          </a:xfrm>
        </p:spPr>
        <p:txBody>
          <a:bodyPr/>
          <a:lstStyle/>
          <a:p>
            <a:r>
              <a:rPr lang="pt-BR" dirty="0"/>
              <a:t>Período de treinamento: 90 dias</a:t>
            </a:r>
          </a:p>
          <a:p>
            <a:r>
              <a:rPr lang="pt-BR" dirty="0"/>
              <a:t>Período previsto: 30 dias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47FC1DE-F56D-1407-BEF4-1EFD3719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293" y="1825625"/>
            <a:ext cx="4072506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12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- Previsão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EF7A0C3-FB43-0EC8-156B-C70A2CB1D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803537"/>
            <a:ext cx="11353800" cy="4481277"/>
          </a:xfrm>
          <a:prstGeom prst="rect">
            <a:avLst/>
          </a:prstGeom>
        </p:spPr>
      </p:pic>
      <p:pic>
        <p:nvPicPr>
          <p:cNvPr id="12" name="Imagem 11" descr="Logotipo">
            <a:extLst>
              <a:ext uri="{FF2B5EF4-FFF2-40B4-BE49-F238E27FC236}">
                <a16:creationId xmlns:a16="http://schemas.microsoft.com/office/drawing/2014/main" id="{9775AEC1-2F8D-B74C-3AF5-C93E91A7A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10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- Previsão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722A7F4-7C8C-5A84-BD83-C899B858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803537"/>
            <a:ext cx="11353800" cy="4481277"/>
          </a:xfrm>
          <a:prstGeom prst="rect">
            <a:avLst/>
          </a:prstGeom>
        </p:spPr>
      </p:pic>
      <p:pic>
        <p:nvPicPr>
          <p:cNvPr id="15" name="Imagem 14" descr="Logotipo">
            <a:extLst>
              <a:ext uri="{FF2B5EF4-FFF2-40B4-BE49-F238E27FC236}">
                <a16:creationId xmlns:a16="http://schemas.microsoft.com/office/drawing/2014/main" id="{1D4003FC-E23A-B788-A5B0-DD934288E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73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- Explicabilidade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8010A4-D2A1-410A-5AF7-6DE46C9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400110" cy="4351338"/>
          </a:xfrm>
        </p:spPr>
        <p:txBody>
          <a:bodyPr/>
          <a:lstStyle/>
          <a:p>
            <a:r>
              <a:rPr lang="pt-BR" dirty="0"/>
              <a:t>Variáveis mais impactantes:</a:t>
            </a:r>
          </a:p>
          <a:p>
            <a:pPr lvl="1"/>
            <a:r>
              <a:rPr lang="pt-BR" dirty="0"/>
              <a:t>Tempo médio da rota entre endereços</a:t>
            </a:r>
          </a:p>
          <a:p>
            <a:pPr lvl="1"/>
            <a:r>
              <a:rPr lang="pt-BR" dirty="0"/>
              <a:t>Distância média da rota entre endereços</a:t>
            </a:r>
          </a:p>
          <a:p>
            <a:pPr lvl="1"/>
            <a:r>
              <a:rPr lang="pt-BR" dirty="0"/>
              <a:t>Revendedor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03F608-F19F-2052-53A2-5C104023C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625" y="1690688"/>
            <a:ext cx="3312174" cy="373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64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8010A4-D2A1-410A-5AF7-6DE46C9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r>
              <a:rPr lang="pt-BR" dirty="0" err="1"/>
              <a:t>Extremely</a:t>
            </a:r>
            <a:r>
              <a:rPr lang="pt-BR" dirty="0"/>
              <a:t> </a:t>
            </a:r>
            <a:r>
              <a:rPr lang="pt-BR" dirty="0" err="1"/>
              <a:t>Randomized</a:t>
            </a:r>
            <a:r>
              <a:rPr lang="pt-BR" dirty="0"/>
              <a:t> </a:t>
            </a:r>
            <a:r>
              <a:rPr lang="pt-BR" dirty="0" err="1"/>
              <a:t>Trees</a:t>
            </a:r>
            <a:r>
              <a:rPr lang="pt-BR" dirty="0"/>
              <a:t> (</a:t>
            </a:r>
            <a:r>
              <a:rPr lang="pt-BR" i="1" dirty="0"/>
              <a:t>MAPE</a:t>
            </a:r>
            <a:r>
              <a:rPr lang="pt-BR" dirty="0"/>
              <a:t> 16%) tem desempenho melhor do que o utilizado atualmente pela empresa (</a:t>
            </a:r>
            <a:r>
              <a:rPr lang="pt-BR" i="1" dirty="0"/>
              <a:t>MAPE</a:t>
            </a:r>
            <a:r>
              <a:rPr lang="pt-BR" dirty="0"/>
              <a:t> 20%)</a:t>
            </a:r>
          </a:p>
          <a:p>
            <a:endParaRPr lang="pt-BR" dirty="0"/>
          </a:p>
          <a:p>
            <a:r>
              <a:rPr lang="pt-BR" dirty="0"/>
              <a:t>Erro Absoluto Médio (</a:t>
            </a:r>
            <a:r>
              <a:rPr lang="pt-BR" i="1" dirty="0"/>
              <a:t>MAE</a:t>
            </a:r>
            <a:r>
              <a:rPr lang="pt-BR" dirty="0"/>
              <a:t>) de 4.37 minutos</a:t>
            </a:r>
          </a:p>
        </p:txBody>
      </p:sp>
    </p:spTree>
    <p:extLst>
      <p:ext uri="{BB962C8B-B14F-4D97-AF65-F5344CB8AC3E}">
        <p14:creationId xmlns:p14="http://schemas.microsoft.com/office/powerpoint/2010/main" val="3318287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8010A4-D2A1-410A-5AF7-6DE46C9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400110" cy="4351338"/>
          </a:xfrm>
        </p:spPr>
        <p:txBody>
          <a:bodyPr/>
          <a:lstStyle/>
          <a:p>
            <a:r>
              <a:rPr lang="pt-BR" dirty="0"/>
              <a:t>Trabalhos futuros</a:t>
            </a:r>
          </a:p>
          <a:p>
            <a:pPr lvl="1"/>
            <a:r>
              <a:rPr lang="pt-BR" dirty="0"/>
              <a:t>Novas variáveis</a:t>
            </a:r>
          </a:p>
          <a:p>
            <a:pPr lvl="1"/>
            <a:r>
              <a:rPr lang="pt-BR" dirty="0"/>
              <a:t>Aplicação em outras plataformas</a:t>
            </a:r>
          </a:p>
          <a:p>
            <a:pPr lvl="1"/>
            <a:r>
              <a:rPr lang="pt-BR" dirty="0"/>
              <a:t>Outras técnicas de Aprendizado de máquina</a:t>
            </a:r>
          </a:p>
        </p:txBody>
      </p:sp>
    </p:spTree>
    <p:extLst>
      <p:ext uri="{BB962C8B-B14F-4D97-AF65-F5344CB8AC3E}">
        <p14:creationId xmlns:p14="http://schemas.microsoft.com/office/powerpoint/2010/main" val="3258728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8010A4-D2A1-410A-5AF7-6DE46C9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 err="1"/>
              <a:t>Almaghrebi</a:t>
            </a:r>
            <a:r>
              <a:rPr lang="pt-BR" sz="1800" dirty="0"/>
              <a:t>, A., </a:t>
            </a:r>
            <a:r>
              <a:rPr lang="pt-BR" sz="1800" dirty="0" err="1"/>
              <a:t>Aljuheshi</a:t>
            </a:r>
            <a:r>
              <a:rPr lang="pt-BR" sz="1800" dirty="0"/>
              <a:t>, F., </a:t>
            </a:r>
            <a:r>
              <a:rPr lang="pt-BR" sz="1800" dirty="0" err="1"/>
              <a:t>Rafaie</a:t>
            </a:r>
            <a:r>
              <a:rPr lang="pt-BR" sz="1800" dirty="0"/>
              <a:t>, M., James, K. e </a:t>
            </a:r>
            <a:r>
              <a:rPr lang="pt-BR" sz="1800" dirty="0" err="1"/>
              <a:t>Alahmad</a:t>
            </a:r>
            <a:r>
              <a:rPr lang="pt-BR" sz="1800" dirty="0"/>
              <a:t>, M. (2020) “Data-</a:t>
            </a:r>
            <a:r>
              <a:rPr lang="pt-BR" sz="1800" dirty="0" err="1"/>
              <a:t>Driven</a:t>
            </a:r>
            <a:r>
              <a:rPr lang="pt-BR" sz="1800" dirty="0"/>
              <a:t> </a:t>
            </a:r>
            <a:r>
              <a:rPr lang="pt-BR" sz="1800" dirty="0" err="1"/>
              <a:t>Charging</a:t>
            </a:r>
            <a:r>
              <a:rPr lang="pt-BR" sz="1800" dirty="0"/>
              <a:t> </a:t>
            </a:r>
            <a:r>
              <a:rPr lang="pt-BR" sz="1800" dirty="0" err="1"/>
              <a:t>Demand</a:t>
            </a:r>
            <a:r>
              <a:rPr lang="pt-BR" sz="1800" dirty="0"/>
              <a:t> </a:t>
            </a:r>
            <a:r>
              <a:rPr lang="pt-BR" sz="1800" dirty="0" err="1"/>
              <a:t>Prediction</a:t>
            </a:r>
            <a:r>
              <a:rPr lang="pt-BR" sz="1800" dirty="0"/>
              <a:t> </a:t>
            </a:r>
            <a:r>
              <a:rPr lang="pt-BR" sz="1800" dirty="0" err="1"/>
              <a:t>at</a:t>
            </a:r>
            <a:r>
              <a:rPr lang="pt-BR" sz="1800" dirty="0"/>
              <a:t> </a:t>
            </a:r>
            <a:r>
              <a:rPr lang="pt-BR" sz="1800" dirty="0" err="1"/>
              <a:t>Public</a:t>
            </a:r>
            <a:r>
              <a:rPr lang="pt-BR" sz="1800" dirty="0"/>
              <a:t> </a:t>
            </a:r>
            <a:r>
              <a:rPr lang="pt-BR" sz="1800" dirty="0" err="1"/>
              <a:t>Charging</a:t>
            </a:r>
            <a:r>
              <a:rPr lang="pt-BR" sz="1800" dirty="0"/>
              <a:t> </a:t>
            </a:r>
            <a:r>
              <a:rPr lang="pt-BR" sz="1800" dirty="0" err="1"/>
              <a:t>Stations</a:t>
            </a:r>
            <a:r>
              <a:rPr lang="pt-BR" sz="1800" dirty="0"/>
              <a:t> </a:t>
            </a:r>
            <a:r>
              <a:rPr lang="pt-BR" sz="1800" dirty="0" err="1"/>
              <a:t>Using</a:t>
            </a:r>
            <a:r>
              <a:rPr lang="pt-BR" sz="1800" dirty="0"/>
              <a:t> </a:t>
            </a:r>
            <a:r>
              <a:rPr lang="pt-BR" sz="1800" dirty="0" err="1"/>
              <a:t>Supervised</a:t>
            </a:r>
            <a:r>
              <a:rPr lang="pt-BR" sz="1800" dirty="0"/>
              <a:t> </a:t>
            </a:r>
            <a:r>
              <a:rPr lang="pt-BR" sz="1800" dirty="0" err="1"/>
              <a:t>Machine</a:t>
            </a:r>
            <a:r>
              <a:rPr lang="pt-BR" sz="1800" dirty="0"/>
              <a:t> Learning </a:t>
            </a:r>
            <a:r>
              <a:rPr lang="pt-BR" sz="1800" dirty="0" err="1"/>
              <a:t>Regression</a:t>
            </a:r>
            <a:r>
              <a:rPr lang="pt-BR" sz="1800" dirty="0"/>
              <a:t> </a:t>
            </a:r>
            <a:r>
              <a:rPr lang="pt-BR" sz="1800" dirty="0" err="1"/>
              <a:t>Methods</a:t>
            </a:r>
            <a:r>
              <a:rPr lang="pt-BR" sz="1800" dirty="0"/>
              <a:t>”, </a:t>
            </a:r>
            <a:r>
              <a:rPr lang="pt-BR" sz="1800" dirty="0" err="1"/>
              <a:t>Energies</a:t>
            </a:r>
            <a:r>
              <a:rPr lang="pt-BR" sz="1800" dirty="0"/>
              <a:t>, vol. 13, no. 16.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Bughin</a:t>
            </a:r>
            <a:r>
              <a:rPr lang="en-US" sz="1800" dirty="0"/>
              <a:t>, J., </a:t>
            </a:r>
            <a:r>
              <a:rPr lang="en-US" sz="1800" dirty="0" err="1"/>
              <a:t>Seong</a:t>
            </a:r>
            <a:r>
              <a:rPr lang="en-US" sz="1800" dirty="0"/>
              <a:t>, J., Manyika, J., Chui, M. e Joshi, R. (2018), “Notes from the AI Frontier Modeling the Impact of AI On The World Economy”, McKinsey Global Institute.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Henke, N., </a:t>
            </a:r>
            <a:r>
              <a:rPr lang="en-US" sz="1800" dirty="0" err="1"/>
              <a:t>Bughin</a:t>
            </a:r>
            <a:r>
              <a:rPr lang="en-US" sz="1800" dirty="0"/>
              <a:t>, J., Chui, M., Manyika, J., Saleh, T., Wiseman, B. e </a:t>
            </a:r>
            <a:r>
              <a:rPr lang="en-US" sz="1800" dirty="0" err="1"/>
              <a:t>Sethupathy</a:t>
            </a:r>
            <a:r>
              <a:rPr lang="en-US" sz="1800" dirty="0"/>
              <a:t>, G. (2016), “The Age Of Analytics: Competing In A Data-Driven World”, McKinsey Global Institute. 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err="1"/>
              <a:t>Joshi</a:t>
            </a:r>
            <a:r>
              <a:rPr lang="pt-BR" sz="1800" dirty="0"/>
              <a:t>, N., </a:t>
            </a:r>
            <a:r>
              <a:rPr lang="pt-BR" sz="1800" dirty="0" err="1"/>
              <a:t>Hotalappa</a:t>
            </a:r>
            <a:r>
              <a:rPr lang="pt-BR" sz="1800" dirty="0"/>
              <a:t>, M. e </a:t>
            </a:r>
            <a:r>
              <a:rPr lang="pt-BR" sz="1800" dirty="0" err="1"/>
              <a:t>Gadade</a:t>
            </a:r>
            <a:r>
              <a:rPr lang="pt-BR" sz="1800" dirty="0"/>
              <a:t>, K. (2017) “A </a:t>
            </a:r>
            <a:r>
              <a:rPr lang="pt-BR" sz="1800" dirty="0" err="1"/>
              <a:t>Study</a:t>
            </a:r>
            <a:r>
              <a:rPr lang="pt-BR" sz="1800" dirty="0"/>
              <a:t> </a:t>
            </a:r>
            <a:r>
              <a:rPr lang="pt-BR" sz="1800" dirty="0" err="1"/>
              <a:t>on</a:t>
            </a:r>
            <a:r>
              <a:rPr lang="pt-BR" sz="1800" dirty="0"/>
              <a:t> </a:t>
            </a:r>
            <a:r>
              <a:rPr lang="pt-BR" sz="1800" dirty="0" err="1"/>
              <a:t>Travel</a:t>
            </a:r>
            <a:r>
              <a:rPr lang="pt-BR" sz="1800" dirty="0"/>
              <a:t> Time </a:t>
            </a:r>
            <a:r>
              <a:rPr lang="pt-BR" sz="1800" dirty="0" err="1"/>
              <a:t>Estimation</a:t>
            </a:r>
            <a:r>
              <a:rPr lang="pt-BR" sz="1800" dirty="0"/>
              <a:t> for Taxi </a:t>
            </a:r>
            <a:r>
              <a:rPr lang="pt-BR" sz="1800" dirty="0" err="1"/>
              <a:t>Trips</a:t>
            </a:r>
            <a:r>
              <a:rPr lang="pt-BR" sz="1800" dirty="0"/>
              <a:t>”, </a:t>
            </a:r>
            <a:r>
              <a:rPr lang="pt-BR" sz="1800" dirty="0" err="1"/>
              <a:t>International</a:t>
            </a:r>
            <a:r>
              <a:rPr lang="pt-BR" sz="1800" dirty="0"/>
              <a:t> </a:t>
            </a:r>
            <a:r>
              <a:rPr lang="pt-BR" sz="1800" dirty="0" err="1"/>
              <a:t>Education</a:t>
            </a:r>
            <a:r>
              <a:rPr lang="pt-BR" sz="1800" dirty="0"/>
              <a:t> &amp; </a:t>
            </a:r>
            <a:r>
              <a:rPr lang="pt-BR" sz="1800" dirty="0" err="1"/>
              <a:t>Research</a:t>
            </a:r>
            <a:r>
              <a:rPr lang="pt-BR" sz="1800" dirty="0"/>
              <a:t> </a:t>
            </a:r>
            <a:r>
              <a:rPr lang="pt-BR" sz="1800" dirty="0" err="1"/>
              <a:t>Journal</a:t>
            </a:r>
            <a:r>
              <a:rPr lang="pt-BR" sz="1800" dirty="0"/>
              <a:t> (IERJ), vol. 3.</a:t>
            </a:r>
          </a:p>
          <a:p>
            <a:pPr marL="0" indent="0">
              <a:buNone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359650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EE7BCBFB-492D-AD8B-5C5D-A42C67E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1628"/>
            <a:ext cx="2865120" cy="1146372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5606F668-78B2-4BF9-1A75-821F70C5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8010A4-D2A1-410A-5AF7-6DE46C9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 err="1"/>
              <a:t>Lam</a:t>
            </a:r>
            <a:r>
              <a:rPr lang="pt-BR" sz="1800" dirty="0"/>
              <a:t>, H. T., Diaz-</a:t>
            </a:r>
            <a:r>
              <a:rPr lang="pt-BR" sz="1800" dirty="0" err="1"/>
              <a:t>Aviles</a:t>
            </a:r>
            <a:r>
              <a:rPr lang="pt-BR" sz="1800" dirty="0"/>
              <a:t>, E., Pascale, A., </a:t>
            </a:r>
            <a:r>
              <a:rPr lang="pt-BR" sz="1800" dirty="0" err="1"/>
              <a:t>Gkoufas</a:t>
            </a:r>
            <a:r>
              <a:rPr lang="pt-BR" sz="1800" dirty="0"/>
              <a:t>, Y. e Chen, B. (2015) “Taxi Destination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Trip</a:t>
            </a:r>
            <a:r>
              <a:rPr lang="pt-BR" sz="1800" dirty="0"/>
              <a:t> Time </a:t>
            </a:r>
            <a:r>
              <a:rPr lang="pt-BR" sz="1800" dirty="0" err="1"/>
              <a:t>Prediction</a:t>
            </a:r>
            <a:r>
              <a:rPr lang="pt-BR" sz="1800" dirty="0"/>
              <a:t> </a:t>
            </a:r>
            <a:r>
              <a:rPr lang="pt-BR" sz="1800" dirty="0" err="1"/>
              <a:t>from</a:t>
            </a:r>
            <a:r>
              <a:rPr lang="pt-BR" sz="1800" dirty="0"/>
              <a:t> </a:t>
            </a:r>
            <a:r>
              <a:rPr lang="pt-BR" sz="1800" dirty="0" err="1"/>
              <a:t>Partial</a:t>
            </a:r>
            <a:r>
              <a:rPr lang="pt-BR" sz="1800" dirty="0"/>
              <a:t> </a:t>
            </a:r>
            <a:r>
              <a:rPr lang="pt-BR" sz="1800" dirty="0" err="1"/>
              <a:t>Trajectories</a:t>
            </a:r>
            <a:r>
              <a:rPr lang="pt-BR" sz="1800" dirty="0"/>
              <a:t>”, </a:t>
            </a:r>
            <a:r>
              <a:rPr lang="pt-BR" sz="1800" dirty="0" err="1"/>
              <a:t>arXiv</a:t>
            </a:r>
            <a:r>
              <a:rPr lang="pt-BR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Moreira, J. M., Jorge, A., Sousa, J. F. e Soares, C. (2005) “Trip Time Prediction In Mass Transit Companies. A Machine Learning Approach”, Advanced OR and AI methods in transportation.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pt-BR" sz="1800" dirty="0"/>
              <a:t>Servos, N., Liu, X., </a:t>
            </a:r>
            <a:r>
              <a:rPr lang="pt-BR" sz="1800" dirty="0" err="1"/>
              <a:t>Teucke</a:t>
            </a:r>
            <a:r>
              <a:rPr lang="pt-BR" sz="1800" dirty="0"/>
              <a:t>, M. e </a:t>
            </a:r>
            <a:r>
              <a:rPr lang="pt-BR" sz="1800" dirty="0" err="1"/>
              <a:t>Freitag</a:t>
            </a:r>
            <a:r>
              <a:rPr lang="pt-BR" sz="1800" dirty="0"/>
              <a:t>, M. (2020) “</a:t>
            </a:r>
            <a:r>
              <a:rPr lang="pt-BR" sz="1800" dirty="0" err="1"/>
              <a:t>Travel</a:t>
            </a:r>
            <a:r>
              <a:rPr lang="pt-BR" sz="1800" dirty="0"/>
              <a:t> Time </a:t>
            </a:r>
            <a:r>
              <a:rPr lang="pt-BR" sz="1800" dirty="0" err="1"/>
              <a:t>Prediction</a:t>
            </a:r>
            <a:r>
              <a:rPr lang="pt-BR" sz="1800" dirty="0"/>
              <a:t> in a Multimodal </a:t>
            </a:r>
            <a:r>
              <a:rPr lang="pt-BR" sz="1800" dirty="0" err="1"/>
              <a:t>Freight</a:t>
            </a:r>
            <a:r>
              <a:rPr lang="pt-BR" sz="1800" dirty="0"/>
              <a:t> </a:t>
            </a:r>
            <a:r>
              <a:rPr lang="pt-BR" sz="1800" dirty="0" err="1"/>
              <a:t>Transport</a:t>
            </a:r>
            <a:r>
              <a:rPr lang="pt-BR" sz="1800" dirty="0"/>
              <a:t> </a:t>
            </a:r>
            <a:r>
              <a:rPr lang="pt-BR" sz="1800" dirty="0" err="1"/>
              <a:t>Relation</a:t>
            </a:r>
            <a:r>
              <a:rPr lang="pt-BR" sz="1800" dirty="0"/>
              <a:t> </a:t>
            </a:r>
            <a:r>
              <a:rPr lang="pt-BR" sz="1800" dirty="0" err="1"/>
              <a:t>Using</a:t>
            </a:r>
            <a:r>
              <a:rPr lang="pt-BR" sz="1800" dirty="0"/>
              <a:t> </a:t>
            </a:r>
            <a:r>
              <a:rPr lang="pt-BR" sz="1800" dirty="0" err="1"/>
              <a:t>Machine</a:t>
            </a:r>
            <a:r>
              <a:rPr lang="pt-BR" sz="1800" dirty="0"/>
              <a:t> Learning </a:t>
            </a:r>
            <a:r>
              <a:rPr lang="pt-BR" sz="1800" dirty="0" err="1"/>
              <a:t>Algorithms</a:t>
            </a:r>
            <a:r>
              <a:rPr lang="pt-BR" sz="1800" dirty="0"/>
              <a:t>”, </a:t>
            </a:r>
            <a:r>
              <a:rPr lang="pt-BR" sz="1800" dirty="0" err="1"/>
              <a:t>Logistics</a:t>
            </a:r>
            <a:r>
              <a:rPr lang="pt-BR" sz="1800" dirty="0"/>
              <a:t> 2020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Shankar, A., </a:t>
            </a:r>
            <a:r>
              <a:rPr lang="pt-BR" sz="1800" dirty="0" err="1"/>
              <a:t>Jebarajakirthy</a:t>
            </a:r>
            <a:r>
              <a:rPr lang="pt-BR" sz="1800" dirty="0"/>
              <a:t>, C., </a:t>
            </a:r>
            <a:r>
              <a:rPr lang="pt-BR" sz="1800" dirty="0" err="1"/>
              <a:t>Nayal</a:t>
            </a:r>
            <a:r>
              <a:rPr lang="pt-BR" sz="1800" dirty="0"/>
              <a:t>, P., </a:t>
            </a:r>
            <a:r>
              <a:rPr lang="pt-BR" sz="1800" dirty="0" err="1"/>
              <a:t>Maseeh</a:t>
            </a:r>
            <a:r>
              <a:rPr lang="pt-BR" sz="1800" dirty="0"/>
              <a:t>, H. I., Kumar, A., &amp; </a:t>
            </a:r>
            <a:r>
              <a:rPr lang="pt-BR" sz="1800" dirty="0" err="1"/>
              <a:t>Sivapalan</a:t>
            </a:r>
            <a:r>
              <a:rPr lang="pt-BR" sz="1800" dirty="0"/>
              <a:t>, A. (2022). Online food delivery: A </a:t>
            </a:r>
            <a:r>
              <a:rPr lang="pt-BR" sz="1800" dirty="0" err="1"/>
              <a:t>systematic</a:t>
            </a:r>
            <a:r>
              <a:rPr lang="pt-BR" sz="1800" dirty="0"/>
              <a:t> </a:t>
            </a:r>
            <a:r>
              <a:rPr lang="pt-BR" sz="1800" dirty="0" err="1"/>
              <a:t>synthesis</a:t>
            </a:r>
            <a:r>
              <a:rPr lang="pt-BR" sz="1800" dirty="0"/>
              <a:t>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literature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a framework </a:t>
            </a:r>
            <a:r>
              <a:rPr lang="pt-BR" sz="1800" dirty="0" err="1"/>
              <a:t>development</a:t>
            </a:r>
            <a:r>
              <a:rPr lang="pt-BR" sz="1800" dirty="0"/>
              <a:t>. </a:t>
            </a:r>
            <a:r>
              <a:rPr lang="pt-BR" sz="1800" dirty="0" err="1"/>
              <a:t>International</a:t>
            </a:r>
            <a:r>
              <a:rPr lang="pt-BR" sz="1800" dirty="0"/>
              <a:t> </a:t>
            </a:r>
            <a:r>
              <a:rPr lang="pt-BR" sz="1800" dirty="0" err="1"/>
              <a:t>Journal</a:t>
            </a:r>
            <a:r>
              <a:rPr lang="pt-BR" sz="1800" dirty="0"/>
              <a:t>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Hospitality</a:t>
            </a:r>
            <a:r>
              <a:rPr lang="pt-BR" sz="1800" dirty="0"/>
              <a:t> Management, 104, 103240.</a:t>
            </a:r>
          </a:p>
        </p:txBody>
      </p:sp>
    </p:spTree>
    <p:extLst>
      <p:ext uri="{BB962C8B-B14F-4D97-AF65-F5344CB8AC3E}">
        <p14:creationId xmlns:p14="http://schemas.microsoft.com/office/powerpoint/2010/main" val="3171655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2571</TotalTime>
  <Words>623</Words>
  <Application>Microsoft Office PowerPoint</Application>
  <PresentationFormat>Widescreen</PresentationFormat>
  <Paragraphs>77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do Office</vt:lpstr>
      <vt:lpstr>Previsão e Controle de Tempos das Entregas em Plataformas de Serviços com Inteligência Artificial</vt:lpstr>
      <vt:lpstr>Introdução</vt:lpstr>
      <vt:lpstr>Introdução</vt:lpstr>
      <vt:lpstr>Referencial teórico</vt:lpstr>
      <vt:lpstr>Referencial teórico</vt:lpstr>
      <vt:lpstr>Metodologia</vt:lpstr>
      <vt:lpstr>Metodologia - Dados</vt:lpstr>
      <vt:lpstr>Metodologia – Análise exploratória</vt:lpstr>
      <vt:lpstr>Metodologia – Preparação dos dados</vt:lpstr>
      <vt:lpstr>Metodologia – Preparação dos dados</vt:lpstr>
      <vt:lpstr>Metodologia – Treinamento e Seleção</vt:lpstr>
      <vt:lpstr>Resultados - Previsão</vt:lpstr>
      <vt:lpstr>Resultados - Previsão</vt:lpstr>
      <vt:lpstr>Resultados - Previsão</vt:lpstr>
      <vt:lpstr>Resultados - Explicabilidade</vt:lpstr>
      <vt:lpstr>Conclusão</vt:lpstr>
      <vt:lpstr>Conclusão</vt:lpstr>
      <vt:lpstr>Referências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e Controle de Tempos das Entregas em Plataformas de Serviços com Inteligência Artificial</dc:title>
  <dc:creator>Guilherme Pereira</dc:creator>
  <cp:lastModifiedBy>Guilherme Pereira</cp:lastModifiedBy>
  <cp:revision>2</cp:revision>
  <dcterms:created xsi:type="dcterms:W3CDTF">2023-12-06T03:02:10Z</dcterms:created>
  <dcterms:modified xsi:type="dcterms:W3CDTF">2023-12-07T21:53:31Z</dcterms:modified>
</cp:coreProperties>
</file>